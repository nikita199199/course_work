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96" r:id="rId2"/>
    <p:sldMasterId id="2147483684" r:id="rId3"/>
    <p:sldMasterId id="2147483672" r:id="rId4"/>
    <p:sldMasterId id="2147483660" r:id="rId5"/>
  </p:sldMasterIdLst>
  <p:notesMasterIdLst>
    <p:notesMasterId r:id="rId21"/>
  </p:notesMasterIdLst>
  <p:handoutMasterIdLst>
    <p:handoutMasterId r:id="rId22"/>
  </p:handoutMasterIdLst>
  <p:sldIdLst>
    <p:sldId id="256" r:id="rId6"/>
    <p:sldId id="259" r:id="rId7"/>
    <p:sldId id="261" r:id="rId8"/>
    <p:sldId id="262" r:id="rId9"/>
    <p:sldId id="273" r:id="rId10"/>
    <p:sldId id="288" r:id="rId11"/>
    <p:sldId id="287" r:id="rId12"/>
    <p:sldId id="263" r:id="rId13"/>
    <p:sldId id="274" r:id="rId14"/>
    <p:sldId id="269" r:id="rId15"/>
    <p:sldId id="285" r:id="rId16"/>
    <p:sldId id="265" r:id="rId17"/>
    <p:sldId id="286" r:id="rId18"/>
    <p:sldId id="276" r:id="rId19"/>
    <p:sldId id="258" r:id="rId2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2"/>
    <a:srgbClr val="21386F"/>
    <a:srgbClr val="1C2A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2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5/27/2020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 dirty="0" err="1"/>
              <a:t>кпиапиапиаи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Верхний колонтитул 5">
            <a:extLst>
              <a:ext uri="{FF2B5EF4-FFF2-40B4-BE49-F238E27FC236}">
                <a16:creationId xmlns:a16="http://schemas.microsoft.com/office/drawing/2014/main" id="{B09DF444-2960-4239-AEC1-0815A36799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431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3A33E-C325-493D-853D-0C52CC5BC609}" type="datetimeFigureOut">
              <a:rPr lang="ru-RU" smtClean="0"/>
              <a:t>27.05.2020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AEE50-5194-4E2F-9E63-C1259C2ACA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189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0AEE50-5194-4E2F-9E63-C1259C2ACA2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683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AEE50-5194-4E2F-9E63-C1259C2ACA2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505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DF596-5F62-4544-BA29-61307317AAE0}" type="datetime1">
              <a:rPr lang="en-US" smtClean="0"/>
              <a:t>5/27/2020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57FFD-70CD-4C5C-8117-5884EA760D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949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B84B2E8-A2D0-4000-A255-CAA72A8F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0451" y="6028359"/>
            <a:ext cx="2133600" cy="365125"/>
          </a:xfrm>
        </p:spPr>
        <p:txBody>
          <a:bodyPr/>
          <a:lstStyle/>
          <a:p>
            <a:pPr>
              <a:defRPr/>
            </a:pPr>
            <a:fld id="{FB177EE4-E9D0-4E44-A358-5893F97CA552}" type="datetime1">
              <a:rPr lang="en-US" smtClean="0"/>
              <a:t>5/27/2020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D909BC-E6F1-43A9-9E26-4DC1D60A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651419"/>
            <a:ext cx="9243391" cy="206581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1">
                    <a:lumMod val="60000"/>
                    <a:lumOff val="4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0FEBB0-15EE-46D4-AD93-20E0B1C1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F37826-9FC6-4A47-B435-94C6280B7F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EC9C2-AECC-4896-95DB-A3CFABCC14B8}" type="datetime1">
              <a:rPr lang="en-US" smtClean="0"/>
              <a:t>5/27/2020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318A3-27E7-4D27-924C-4173717FF2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893AB-5902-40A7-82E4-E8F14245C1F4}" type="datetime1">
              <a:rPr lang="en-US" smtClean="0"/>
              <a:t>5/27/2020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1699C-A097-4533-BEFF-B1452833F26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05890-EED1-4C89-8E23-73B9ED05948E}" type="datetime1">
              <a:rPr lang="en-US" smtClean="0"/>
              <a:t>5/27/2020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8C458-4B9D-4501-AB19-9D129E2810A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0058F-BDB5-4F70-B22B-6887815E9BC2}" type="datetime1">
              <a:rPr lang="en-US" smtClean="0"/>
              <a:t>5/27/2020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1CD07-29D6-4A4D-ADEA-1E0E2DFE29D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45B8-2468-448F-848A-A385BF5788B5}" type="datetime1">
              <a:rPr lang="en-US" smtClean="0"/>
              <a:t>5/27/2020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36B3D-EFD3-47A2-82AF-07B5235D98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B55ED-4844-4B1C-AD3C-D82B917DB2B3}" type="datetime1">
              <a:rPr lang="en-US" smtClean="0"/>
              <a:t>5/27/2020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45757-2996-489D-9DE7-5C2053F788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F6AFE-698E-44FF-8BBA-A1FDF2F029E0}" type="datetime1">
              <a:rPr lang="en-US" smtClean="0"/>
              <a:t>5/27/2020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0040B-1B69-4DF3-82DE-71CA80F2D89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E1CF9-2DAB-4D0F-972B-270E8D2F0EDF}" type="datetime1">
              <a:rPr lang="en-US" smtClean="0"/>
              <a:t>5/27/2020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BE88E-3ED5-4852-8D89-B50379241A2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C8E2F-6229-440C-84D8-50953E7BF52F}" type="datetime1">
              <a:rPr lang="en-US" smtClean="0"/>
              <a:t>5/27/2020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4C045-341C-4E2D-AF88-1D9C5038858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3E651-AB29-41F6-B9B3-142BEA566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ADEDA8-8AFC-4376-9A6C-AB95D0893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CA3B20-D144-4B79-96E5-D6E45DDC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FBA44-5B46-4D2B-9756-FFE29A6BCBFD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D10960-3000-4109-9A59-8CA6BA6A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EEF334-1251-49CD-ACEC-F0205083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901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63FD4-F790-4D02-BAD5-8CC08A13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3AF5F-2B8F-4571-8AE1-B8C0B19E3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BBA8A2-D516-4D1E-B31D-67CC1E225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4B68-1C36-42E3-A326-7B11B26B8954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350E64-0E7A-43E5-92FC-EE49A7A1E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E88E9-DA7B-4A76-8898-4B746D1D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944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08CC2-3738-4FF0-9537-B29D766A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C5F10E-841B-48E1-B804-54F84CE74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38A63-1673-461F-BD44-95DED563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72C8-8C70-4D60-8CB8-FFA3223C5A18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36FAA6-0646-4D6F-BB3C-BFC386A6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A3E0E-6282-4269-BC19-78D8F606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00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4E938-0A6D-484D-B958-BFCCF422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F8BA6F-0D31-4B12-834E-25F7E2ECA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2F7CB7-A890-435C-BB80-794E2B84C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E360A-3548-40B2-A4CC-A3C236ED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5CE-1386-4C0E-9460-3EB13988EA04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95B56-8A69-43FA-9021-0C36DFEE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B4780B-527E-410B-8889-979DE689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64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35316-EADD-4BDA-8ADD-EBDEE57D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465CFE-89AC-4118-B529-751163000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EEB3C5-F026-4E9D-AC29-7E35DDDE5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66F38C-6F72-46E7-863A-4B1BC2642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51405D-B919-4E52-971B-300A91244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908CFEC-7329-4AA1-9CE8-CD0B68789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2A11-2EC1-4EB6-86D2-F28FE782CBC3}" type="datetime1">
              <a:rPr lang="en-US" smtClean="0"/>
              <a:t>5/27/2020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280B293-7E51-4836-8CF0-B0CD52F2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1E0B10-6734-47B5-AB5F-0ADC0D87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632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7A658-F42A-480C-AA51-B4FCAA12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32A5F9-7996-4190-8E7D-AC49D7B2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2413-52DC-45DE-9368-4F67E917AAF1}" type="datetime1">
              <a:rPr lang="en-US" smtClean="0"/>
              <a:t>5/27/2020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B7F8BD-E165-40CC-ACDB-8AE88126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0731AC-D58F-42B3-9EBA-D56464B9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627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1FB6438-4D83-4590-BFB6-3AEF81B4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7493-C548-4C04-813B-D092D379825C}" type="datetime1">
              <a:rPr lang="en-US" smtClean="0"/>
              <a:t>5/27/2020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3616F9-FE21-40CF-82F4-16FE4442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499B7A-9BA1-4D4C-A4CB-3498883D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869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2B52B-0AE6-47AB-8700-0F4B47AD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99C288-7D7D-4BAD-8DE5-010EEA4A0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86F1DA-4D25-41AB-8DDF-16D04267D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798717-B165-479C-AA1F-32EAB099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B15AA-C60C-4753-9325-DE4D3F4C0EF6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326DCD-F4EC-4C47-B927-E72DD529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F6356E-0121-4F07-874B-445291F6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828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B446F-D41F-46E3-BE11-08DEE36F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58F0B9-AE96-470E-A263-1CF92A853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10E81A-3678-47AA-B04A-3B5F1243A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C1154A-905B-42EC-B208-674CB8D2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A909E-1623-4022-89C5-8E3865EDC4C4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39D584-B529-48D5-8542-10DA45AE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0355BC-DF4C-4B30-9C9A-41A66276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771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70078-C956-47F6-92A1-F6E52AFED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F8AB8F-6B20-4070-A934-C45D98D29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AA3DCF-01AD-4677-80C3-AE62BD97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A0B36-7B1D-49D3-B6A7-15482B37E935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EB065E-0CE1-4FD4-9996-C87D1E9F8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577309-383A-4E72-903E-C988ED0B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600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310B3C-FD92-4D70-BFD5-5D2DA2277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B869FC6-E8D9-47D4-B7E7-D43BBDBDC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97EE62-4771-463A-8CB8-9AAF25EE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E89B2-CD95-45CF-8B2C-6631305B23CD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A866E6-B4FA-452A-A8FA-87CB7BDA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4A2652-FE2C-4198-854A-B6356CEB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848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9D3FF6-C908-4635-8EEE-EAEC4921A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25AB1A-C6E0-4583-9275-94BDBFF59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7E79AF-74E5-4D4D-9EED-686522D1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04987-D4DC-44F2-99E1-FA7212AD3D8A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545E9A-DB13-4B5A-A252-A893C34F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D1DE3B-F24E-4E63-9F11-013B3101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609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10F5B-7229-4FF7-B0F8-ECF434E7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1ED8B3-6E1C-4ED5-92B3-15DD41A3A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0F9083-6922-4D72-89AB-DD94548E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F526-B379-4CF9-B4EF-EC12627762D9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EF78F-B230-460F-97CA-AC159A74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15CD1A-C44D-41FB-9944-14B48E87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6039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E4D2A-5C6D-488E-ACC9-8B4AAB9E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D8ABAC-D3D0-4036-8724-F62CB26AD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F56CC5-CC06-4EB7-BACC-E06F426C2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169F-9129-4F0A-A63A-75F114C683D9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219268-E7D7-4DB9-A191-7766A1E9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DC5C74-073F-4BDF-B281-099901BB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8815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B1DFD-9AD9-4FDB-ACE0-8EB66025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CC6044-C3AD-4661-B31A-8B730805C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45E679-F6CD-4E09-B82D-FEFFBC01C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7BE15F-4DEB-437E-B253-BCCBCA3A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60591-DF59-4822-8CB1-9FCDDEEECFB0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1AE058-7FA0-44A3-83A3-186675ED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DD8C2A-33F2-4C1C-A1EF-769B20C8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427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ACD89-F1AA-455E-9C8F-D8D2BB7B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AF2186-7053-4171-BC76-2748FAF1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5E5A8-659D-487E-A514-73ED20E87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2C03F9-0AB1-4137-A317-F9D3FB831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EE4D20-A529-4B51-B82D-788D6C346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C28B963-43FB-4497-90D8-1066694E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19E1C-67CB-4780-BE5E-1EB97A2803B5}" type="datetime1">
              <a:rPr lang="en-US" smtClean="0"/>
              <a:t>5/27/2020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E27232-371F-4A48-BE47-6C257EEB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D3A1A3B-3524-4D51-9784-5F1823CB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862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73E22-087C-4D0F-B304-41FDDDD8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5A2945-4875-4592-9222-FEFFBFCA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47B6-A370-4BFA-A33E-6858E3AD7F60}" type="datetime1">
              <a:rPr lang="en-US" smtClean="0"/>
              <a:t>5/27/2020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4DA331-0E84-4132-97B0-C58F5CC9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907AB3-8E61-4263-BD55-DB767667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8769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5089A0-99D2-4D07-9155-53210923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6E27A-DD9C-46B8-AB5E-D68658A4D114}" type="datetime1">
              <a:rPr lang="en-US" smtClean="0"/>
              <a:t>5/27/2020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9EF61D-72D6-4939-B6A2-BB6A12D7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5C79AB-136D-4FF2-9798-EF99211E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0737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DAC0B-DDCE-46E1-87DE-074863F8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DBFF33-549A-4370-9375-967EA5CF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B28097-A4DB-40AE-A3B6-9FAE2E98F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BF8108-20ED-44B5-A24A-1A3754C2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8A863-D8A9-4325-80BD-E9E7C6E27011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4B6D94-B746-4AFE-ABE9-E6888B14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7E8382-3181-4B8C-A4BA-7D3D6318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9745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696B1-EA78-4EE8-AAB0-C9940C41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C430AC-775A-4920-AF3B-EA38A6D50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227BF2-190B-413B-BC1C-C3F3D5A5E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3E8CE-AD4C-49C8-8BFC-956FB439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CA00-7850-48FC-8E47-A3DA2E9F5A12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A279AD-1FDB-4D3E-B220-B3FDAF87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811B06-FB8E-41FB-BE96-4030CA9F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227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CE886-02D7-4599-A7B9-F8350BD74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AF2962-3B5D-43B8-A7A4-7F40A9D06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B58204-E08C-41BA-8FC8-6988DB2D5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F2FE-49FF-431A-8C86-C4E7B2BB063A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0FEC1-68B5-4C2C-8C3D-AA3EB817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5415E8-3702-4A08-AF59-2AAE1420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1555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D1B870-A429-4E88-957D-FE20704A2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A0AA5C-4A60-4E0E-AB63-9793A82F9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95C1E6-DAA5-4A6C-A948-0F5BCD34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AA6F9-97FE-4ED7-AAEC-7E0B0C32C541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ABA23A-5D92-4856-B197-468DBF1A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D31F42-2899-4289-803D-61317F15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780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FC3E2-AD56-48ED-95AF-8A96D66EA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79EAFA-4D5F-4578-BC92-184C11A8E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51A767-156B-44F2-A8FC-E4E32F53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4FEC-8541-48D3-A712-01FC1CA86968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A22171-5F65-4F90-9C7C-D88D90D0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531D3-3753-4FB2-A677-DC952C66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862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D2C1D-1EBB-4642-9AAD-7C6728CF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E2D333-4392-45D2-9700-35A62CB0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8A0DC7-BCEB-48AD-A2F9-394115C6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07089-935B-4B10-BE31-F5326CD33BEF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1A6F0F-6CAA-4821-9AA1-06EA4137D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4CFAA6-9041-45C8-93E0-12D8B21B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4928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1428D-CEE3-4B3E-9D55-F0F7F419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9B4973-59C1-46A5-B706-9C8598DDF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586D78-7D74-4119-8742-EDC559C5B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122F-4944-4E1A-AAC3-90D336F01C5E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A35715-3B74-47A9-92CD-09568A40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96B218-3C15-4967-B8A1-0436ADCE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234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E0A441-39BF-463B-99B4-C37439BE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8E1F08-EE99-4692-9A50-DB866D3F2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6A1914-8A51-4CE6-931B-05BBDEA2C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63B11C-F173-40C9-96CC-861A4C35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459-255C-437A-924B-1783948FDC78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35077F-7744-4995-BD35-646C6660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D120FA-83B7-4EB4-80B6-5C5CE27F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8201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0FA867-20AC-42BF-BADB-670292AD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C3F0CE-D296-4D54-815F-27F056EF5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A42EE5-AC0C-4CAC-9E6A-606DE1A38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13DC41-154B-4533-AA5C-B825135A6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DE57DF-FB65-4510-9901-BB03A4660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65FBD2D-C78E-4D36-9FD5-0EA60E54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39A3A-119B-412F-8309-3253AE8AB488}" type="datetime1">
              <a:rPr lang="en-US" smtClean="0"/>
              <a:t>5/27/2020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8FFA735-8BF1-4DCC-843F-FFA9715D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FF10CA-4CAF-462D-BB6B-8CA7ADB2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6612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C2DCA-4512-4AD4-90B0-4BA414D3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8F786A-A855-4D01-942F-A119F8D7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C2C16-EFAF-4341-8E61-9287F5909ABA}" type="datetime1">
              <a:rPr lang="en-US" smtClean="0"/>
              <a:t>5/27/2020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456461-2F6F-4E39-825C-417C967F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5BB90F-AA96-4FD7-BBB9-997F7CCC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6846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916D380-3E70-4CA8-8E00-BF23BFD7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80519-6DCE-4B4E-8A17-39138E69BBBC}" type="datetime1">
              <a:rPr lang="en-US" smtClean="0"/>
              <a:t>5/27/2020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220896-D0CC-4CF2-993C-2D4CB493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B37395-031E-4257-A5CF-99195440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5742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38788-9022-4AE3-8AA3-4F241C58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DCC930-1F64-4777-903D-92F994C7F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1F11C4-BBFB-495F-A6B0-E303E8041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4F2E47-79C7-49AC-8412-1E819511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3AB3F-BF16-423E-8581-6BA06574B7D3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DE804C-C87F-4D28-99F6-381D4E697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BF3481-F76E-4756-8BB7-3CB16E25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4097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F0FA6-134D-452A-8657-B1AA182C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A91DACF-0931-4061-968B-01806B7EA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624CA9-7D91-4140-9726-BD5631E7F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C4D01E-5FA5-4115-B429-1CF5EF04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A61A5-4520-475A-A592-F373ECFDE81F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8883BA-3A5A-477A-BE29-1F4AC73E6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8C8376-3FCE-438C-AF74-97B338D7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7450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C48DD-2BEC-462D-9DBB-69A81CCD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9041FE-D1E8-424C-8E63-AD5456C1B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638833-CCDE-413B-BC6E-527FB0EE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71655-22D9-4D0B-A16B-8E521551ED86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3A6471-4BB7-4241-855D-CD773B88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43E678-4EF7-4787-B73D-C96D268D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930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1F8A9F-BF16-4047-8AC1-8F98BB7BB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35E5B9-6FDF-461E-9A0C-03E1AFDEF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EA246-BBD8-4A5B-9E27-1E9C0207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CA130-4EA0-4042-A99D-05DAA8E0EA33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8CFE86-C762-4771-90F6-E083DAD2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17C011-3C10-4AB2-87F9-359E97E0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041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5BE59-E9C9-4647-860C-52BEFEE06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8F9BD5-887F-4F1D-A04F-18109DFB3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69EDF-1F51-419B-B9CA-E6C171CF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5738-5DA7-4DA3-A142-9CAF99DF5FAE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B466A4-B417-4DF9-99D8-CEF71C4C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7344E-CF13-4184-A8AD-62F955DA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2576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B5FF7-9724-43AB-9F23-837F3F995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497F12-7B1A-4757-A09E-6083558C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8BA2E-BB78-40CF-8223-DA0DF535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840AC-122C-4DEA-BD1E-C60AA8416E94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A5AB45-4997-4209-8054-CC7CDFE9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11FECD-1AF2-4BE5-AC6C-98B3186B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47066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0B674-0F8E-45CF-A7B8-7FA4C3C1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EE381F-4ADE-4E30-B857-09CAFE1E7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584C32-CD5A-43AF-B0E4-EC689C2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12DC-2236-4849-96EA-87FA35B34CA6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CEEB9D-E37F-42A9-82DC-B6517D85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FBC26-3B98-4964-A787-B49DAD25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4432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21960-2037-4DBA-8078-7B65ACAC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F1EBAF-FA10-4B90-BA03-A24B22FB7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B14CAE-32B5-4C0C-9543-E7722C14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39F76D-3F41-43DD-A993-0911BE67A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2B27-4056-4B7A-9EA5-16627BF85DF4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F14F3C-FFF8-4086-BFC6-F8F1859D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74B9DB-DC8D-4338-9CD4-A22F2476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2488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17E94-8502-40F6-A3BE-79BCC7DE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7853CF-97F9-4D03-84EC-980F1A1B3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4C3319-961D-4FBC-B048-39BAC708C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D41807-89F4-41BC-87ED-ABECCF90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4BC44-75BE-42DA-8315-082DDF850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33FFAB-A329-4F25-AC77-2F286BA6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1DE6-070C-49EA-B642-9B6B68C15EDC}" type="datetime1">
              <a:rPr lang="en-US" smtClean="0"/>
              <a:t>5/27/2020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D23406-BE75-4AFC-BBF5-B64467F1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FD8512B-BDFB-42B2-B2B7-0B2B4D0E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9371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A0F05-02C9-42F5-9C06-074AC47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90AEA1-A640-439A-B216-2F552919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C4CD1-78C6-4138-9529-07F435733F41}" type="datetime1">
              <a:rPr lang="en-US" smtClean="0"/>
              <a:t>5/27/2020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E8B773-B1B4-482B-92D4-B176B5234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D7E9CB-535F-4A4B-A88C-DEA22D52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1951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B3F65F-264B-4F2B-BA76-3E9CD71EB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10331-1DD0-468D-ACB7-4A78239F08BD}" type="datetime1">
              <a:rPr lang="en-US" smtClean="0"/>
              <a:t>5/27/2020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7B155C-82C7-41DC-9B2C-4C3FCFDA0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A5C57E-B35A-4FD8-9F01-1EC28FB1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0539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4CF2-DA00-47F2-84FD-C16EED0A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992FA-52C5-4709-B018-62C3B2E62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8D858F-1282-4901-AFD9-B8C1A2250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D57B78-D26E-4207-AC7B-A55E1F8B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CF39E-F689-452B-A10E-C08458A780D6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F363DD-6A67-4B31-B464-EFE10762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DC7DF5-634A-4F4E-A74B-7731DC04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177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2AAD1-2F9A-42D0-82EF-65D3F12A9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4B57F1-9973-4049-8EB6-2D6C12D55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642372-4EA3-4680-A63F-7837DB40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08206A-55FC-4145-BB64-2734F1A4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162C-8944-4DB5-AA80-E37FB974CDE2}" type="datetime1">
              <a:rPr lang="en-US" smtClean="0"/>
              <a:t>5/27/2020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965092-B5BB-4372-969F-CB42FA7D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215AA0-20A5-41AE-AC40-BA369163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2955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B1538A-CCF7-4CD5-8C3F-FD89EC88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2F4917-25AC-42ED-BA49-3E5482346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C4822B-8E88-4AAC-B3EC-6FDAAFB9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E4020-2ADB-4C52-8C03-B2DCE99C2C2A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BA43E-E2D0-4A70-BE70-0C23D591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5C24EF-4287-4253-B428-D7790672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9120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A8EEF5-0B37-40EB-9EE0-F0AEE0777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47A97C-7EDF-4978-80B4-461F76EA5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243DC-32E5-492A-88B1-922E16249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9C46D-2F39-48ED-A98E-2C545F694DE7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80BEA3-02EB-451D-B1CE-989E6DF1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42C55D-F999-4A0B-8B90-20A3755E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34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charset="0"/>
                <a:ea typeface="MS PGothic" panose="020B0600070205080204" charset="-128"/>
                <a:cs typeface="+mn-cs"/>
              </a:defRPr>
            </a:lvl1pPr>
          </a:lstStyle>
          <a:p>
            <a:pPr>
              <a:defRPr/>
            </a:pPr>
            <a:fld id="{44E967F0-F836-4E69-87EE-8C940A34463A}" type="datetime1">
              <a:rPr lang="en-US" smtClean="0"/>
              <a:t>5/27/2020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charset="0"/>
                <a:ea typeface="MS PGothic" panose="020B0600070205080204" charset="-128"/>
                <a:cs typeface="+mn-cs"/>
              </a:defRPr>
            </a:lvl1pPr>
          </a:lstStyle>
          <a:p>
            <a:pPr>
              <a:defRPr/>
            </a:pPr>
            <a:fld id="{B1F37826-9FC6-4A47-B435-94C6280B7F5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8B4FF8-9BDD-41DC-9351-D9846A26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FFEA6A-D866-42FD-9321-F3310DC3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DACF5B-C201-4C8A-845C-A0AC8083B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CDEE9-53AA-4AA8-8F54-0B6B2E7A676E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1BAECC-EE44-4887-A2E6-5C693B4EA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59F68C-5DE6-4842-8AA4-0F65CAC03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4DD84-1CCA-40D8-8D9C-9B0531BE6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F0A57-721D-4EB4-B80A-5A378389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51B709-667D-47E5-8B67-5DAC13A6D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BCA5A1-0BD6-46ED-ACD4-054010EBF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06FAE-E31C-4328-B80B-F03540D91753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7D0E3B-DA3F-4080-A063-ADD54BE9B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9A041-A18A-4BED-8A1F-E506D3FC2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2F538-7612-4CE9-99B2-54A61AFFF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96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9E3AD-71F4-4B3F-800E-D6C81DEDA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02AFB4-723C-4152-8650-4A3C7BE34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1B162-9F97-4D8F-B541-E22B5C949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4B758-B97E-4E2A-B882-AD96F78D55AA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142E92-FBEE-46A2-AA18-B1B197E8C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208A7B-2039-4354-BE42-7C9B64943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A9AC5-1DD8-446A-B9C6-BC8776C5F0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01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2F252-7D7B-4482-96C1-8AD79195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E2A53B-BAD0-4B09-B5BD-38EAFDE8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F42A1B-394C-433B-815E-6EBCDCD31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D899B-C4C3-4FFA-924D-FA8CBABCFDDE}" type="datetime1">
              <a:rPr lang="en-US" smtClean="0"/>
              <a:t>5/27/2020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C9DACD-DB77-462A-B38F-BEF957778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Ткаченко Н.С., БПИ 199, курсовая работа, Андроид приложение для организации совместных тренировок на спортивных площадках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11A325-6A28-478C-9014-C91EB39CD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5B95A-0CB9-4148-B5F3-BBB374D243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05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y.google.com/store/apps/details?id=com.nau.streetworkoutrankmanager&amp;hl=r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y.google.com/store/apps/details?id=com.yclients.mobile.s301306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hyperlink" Target="https://github.com/nikita199199/Course_Work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12" Type="http://schemas.openxmlformats.org/officeDocument/2006/relationships/hyperlink" Target="https://www.nuget.org/packages/Xamarin.Android.Support.Vector.Drawabl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hyperlink" Target="https://www.nuget.org/packages/Xamarin.Essentials/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www.nuget.org/packages/Xamarin.GooglePlayServices.Maps/117.0.0-preview03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ru-ru/xamarin/android/platform/maps-and-location/maps/maps-api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ta.mos.ru/" TargetMode="External"/><Relationship Id="rId4" Type="http://schemas.openxmlformats.org/officeDocument/2006/relationships/hyperlink" Target="https://developers.google.com/maps/documentation?hl=ru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06625"/>
          </a:xfrm>
        </p:spPr>
        <p:txBody>
          <a:bodyPr/>
          <a:lstStyle/>
          <a:p>
            <a:pPr eaLnBrk="1" hangingPunct="1"/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  <a:t>Факультет компьютерных наук</a:t>
            </a:r>
            <a:b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</a:b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  <a:t>Образовательная программа </a:t>
            </a:r>
            <a:b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</a:b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  <a:t>09.03.04 Программная инженерия</a:t>
            </a:r>
            <a:b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</a:b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charset="-128"/>
                <a:cs typeface="+mj-lt"/>
              </a:rPr>
              <a:t>Курсовая работа</a:t>
            </a:r>
            <a:b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j-lt"/>
              </a:rPr>
            </a:br>
            <a:r>
              <a:rPr lang="ru-RU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j-lt"/>
              </a:rPr>
              <a:t>Андроид приложение для организации совместных тренировок на  спортивных площадках московских парков</a:t>
            </a:r>
            <a:endParaRPr lang="en-US" sz="2900" dirty="0">
              <a:solidFill>
                <a:srgbClr val="FF0000"/>
              </a:solidFill>
              <a:ea typeface="MS PGothic" panose="020B0600070205080204" charset="-128"/>
              <a:cs typeface="+mj-lt"/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2743200" y="4745557"/>
            <a:ext cx="6400800" cy="1821703"/>
          </a:xfrm>
        </p:spPr>
        <p:txBody>
          <a:bodyPr/>
          <a:lstStyle/>
          <a:p>
            <a:pPr algn="r" eaLnBrk="1" hangingPunct="1"/>
            <a:r>
              <a:rPr lang="ru-RU" sz="1800" dirty="0">
                <a:solidFill>
                  <a:srgbClr val="000066"/>
                </a:solidFill>
                <a:latin typeface="+mj-lt"/>
                <a:ea typeface="MS PGothic" panose="020B0600070205080204" charset="-128"/>
                <a:cs typeface="+mj-lt"/>
              </a:rPr>
              <a:t>Выполнил студент группы БПИ-199</a:t>
            </a:r>
            <a:r>
              <a:rPr lang="en-US" sz="1800" dirty="0">
                <a:solidFill>
                  <a:srgbClr val="FF0000"/>
                </a:solidFill>
                <a:latin typeface="+mj-lt"/>
                <a:ea typeface="MS PGothic" panose="020B0600070205080204" charset="-128"/>
                <a:cs typeface="+mj-lt"/>
              </a:rPr>
              <a:t> </a:t>
            </a:r>
            <a:endParaRPr lang="ru-RU" sz="1800" dirty="0">
              <a:solidFill>
                <a:srgbClr val="000066"/>
              </a:solidFill>
              <a:latin typeface="+mj-lt"/>
              <a:cs typeface="+mj-lt"/>
            </a:endParaRPr>
          </a:p>
          <a:p>
            <a:pPr algn="r" eaLnBrk="1" hangingPunct="1"/>
            <a:r>
              <a:rPr kumimoji="1" lang="ru-RU" sz="1800" dirty="0">
                <a:solidFill>
                  <a:srgbClr val="000066"/>
                </a:solidFill>
                <a:latin typeface="+mj-lt"/>
                <a:ea typeface="MS PGothic" panose="020B0600070205080204" charset="-128"/>
                <a:cs typeface="+mj-lt"/>
              </a:rPr>
              <a:t>Ткаченко Никита Сергеевич</a:t>
            </a:r>
            <a:endParaRPr kumimoji="1" lang="ru-RU" sz="1800" dirty="0">
              <a:solidFill>
                <a:srgbClr val="FF0000"/>
              </a:solidFill>
              <a:latin typeface="+mj-lt"/>
              <a:ea typeface="MS PGothic" panose="020B0600070205080204" charset="-128"/>
              <a:cs typeface="+mj-lt"/>
            </a:endParaRPr>
          </a:p>
          <a:p>
            <a:pPr algn="r" eaLnBrk="1" hangingPunct="1"/>
            <a:r>
              <a:rPr kumimoji="1" lang="ru-RU" sz="1800" dirty="0">
                <a:solidFill>
                  <a:srgbClr val="000066"/>
                </a:solidFill>
                <a:latin typeface="+mj-lt"/>
                <a:ea typeface="MS PGothic" panose="020B0600070205080204" charset="-128"/>
                <a:cs typeface="+mj-lt"/>
              </a:rPr>
              <a:t>Научный руководитель: </a:t>
            </a:r>
          </a:p>
          <a:p>
            <a:pPr algn="r" eaLnBrk="1" hangingPunct="1"/>
            <a:r>
              <a:rPr kumimoji="1" lang="ru-RU" sz="1800" dirty="0">
                <a:solidFill>
                  <a:srgbClr val="000066"/>
                </a:solidFill>
                <a:latin typeface="+mj-lt"/>
                <a:cs typeface="+mj-lt"/>
              </a:rPr>
              <a:t>Профессор департамента программной инженерии, к. т. н</a:t>
            </a:r>
          </a:p>
          <a:p>
            <a:pPr algn="r" eaLnBrk="1" hangingPunct="1"/>
            <a:r>
              <a:rPr kumimoji="1" lang="ru-RU" sz="1800" dirty="0">
                <a:solidFill>
                  <a:srgbClr val="000066"/>
                </a:solidFill>
                <a:latin typeface="+mj-lt"/>
                <a:cs typeface="+mj-lt"/>
              </a:rPr>
              <a:t>Авдошин Сергей Михайлович</a:t>
            </a:r>
            <a:endParaRPr kumimoji="1" lang="ru-RU" sz="1200" dirty="0">
              <a:solidFill>
                <a:srgbClr val="FF0000"/>
              </a:solidFill>
              <a:latin typeface="+mj-lt"/>
              <a:cs typeface="+mj-lt"/>
            </a:endParaRPr>
          </a:p>
        </p:txBody>
      </p:sp>
      <p:sp>
        <p:nvSpPr>
          <p:cNvPr id="13316" name="Subtitle 2"/>
          <p:cNvSpPr txBox="1"/>
          <p:nvPr/>
        </p:nvSpPr>
        <p:spPr bwMode="auto">
          <a:xfrm>
            <a:off x="1371600" y="6467475"/>
            <a:ext cx="6400800" cy="349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  <a:latin typeface="+mj-lt"/>
                <a:cs typeface="+mj-lt"/>
              </a:rPr>
              <a:t>Высшая школа экономики, Москва, 2020</a:t>
            </a:r>
          </a:p>
          <a:p>
            <a:pPr algn="ctr">
              <a:spcBef>
                <a:spcPct val="20000"/>
              </a:spcBef>
            </a:pPr>
            <a:r>
              <a:rPr lang="en-US" sz="800" dirty="0">
                <a:solidFill>
                  <a:schemeClr val="bg1"/>
                </a:solidFill>
                <a:latin typeface="+mj-lt"/>
                <a:cs typeface="+mj-lt"/>
              </a:rPr>
              <a:t>www.hse.ru</a:t>
            </a:r>
            <a:r>
              <a:rPr lang="ru-RU" sz="800" dirty="0">
                <a:solidFill>
                  <a:schemeClr val="bg1"/>
                </a:solidFill>
                <a:latin typeface="+mj-lt"/>
                <a:cs typeface="+mj-lt"/>
              </a:rPr>
              <a:t> </a:t>
            </a:r>
            <a:endParaRPr kumimoji="1" lang="ru-RU" sz="800" dirty="0">
              <a:solidFill>
                <a:schemeClr val="bg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6894979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ОПИСАНИЕ ПРЕДМЕТНОЙ ОБЛАСТИ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6" name="Rectangle 12"/>
          <p:cNvSpPr>
            <a:spLocks noChangeArrowheads="1"/>
          </p:cNvSpPr>
          <p:nvPr/>
        </p:nvSpPr>
        <p:spPr bwMode="auto">
          <a:xfrm>
            <a:off x="222250" y="1479550"/>
            <a:ext cx="8746259" cy="446276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003F82"/>
                </a:solidFill>
                <a:cs typeface="Arial" panose="020B0604020202020204" pitchFamily="34" charset="0"/>
              </a:rPr>
              <a:t>Предметная область:</a:t>
            </a:r>
          </a:p>
          <a:p>
            <a:r>
              <a:rPr lang="en-US" sz="2400" dirty="0">
                <a:solidFill>
                  <a:srgbClr val="003F82"/>
                </a:solidFill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rgbClr val="003F82"/>
                </a:solidFill>
                <a:cs typeface="Arial" panose="020B0604020202020204" pitchFamily="34" charset="0"/>
              </a:rPr>
              <a:t>Социальная сфера и спорт</a:t>
            </a:r>
          </a:p>
          <a:p>
            <a:endParaRPr lang="ru-RU" sz="2400" i="1" dirty="0">
              <a:solidFill>
                <a:srgbClr val="003F82"/>
              </a:solidFill>
              <a:cs typeface="Arial" panose="020B0604020202020204" pitchFamily="34" charset="0"/>
            </a:endParaRPr>
          </a:p>
          <a:p>
            <a:endParaRPr lang="ru-RU" sz="2400" i="1" dirty="0">
              <a:solidFill>
                <a:srgbClr val="003F82"/>
              </a:solidFill>
              <a:cs typeface="Arial" panose="020B0604020202020204" pitchFamily="34" charset="0"/>
            </a:endParaRPr>
          </a:p>
          <a:p>
            <a:r>
              <a:rPr lang="ru-RU" sz="2400" b="1" i="1" dirty="0">
                <a:solidFill>
                  <a:srgbClr val="003F82"/>
                </a:solidFill>
                <a:cs typeface="Arial" panose="020B0604020202020204" pitchFamily="34" charset="0"/>
              </a:rPr>
              <a:t>Неформальная постановка задачи: </a:t>
            </a:r>
          </a:p>
          <a:p>
            <a:r>
              <a:rPr lang="ru-RU" sz="2400" dirty="0">
                <a:solidFill>
                  <a:srgbClr val="003F82"/>
                </a:solidFill>
                <a:cs typeface="Arial" panose="020B0604020202020204" pitchFamily="34" charset="0"/>
              </a:rPr>
              <a:t>Разработать андроид приложение на платформе </a:t>
            </a:r>
            <a:r>
              <a:rPr lang="en-US" sz="2400" dirty="0" err="1">
                <a:solidFill>
                  <a:srgbClr val="003F82"/>
                </a:solidFill>
                <a:cs typeface="Arial" panose="020B0604020202020204" pitchFamily="34" charset="0"/>
              </a:rPr>
              <a:t>Xamarin.Android</a:t>
            </a:r>
            <a:r>
              <a:rPr lang="en-US" sz="2400" dirty="0">
                <a:solidFill>
                  <a:srgbClr val="003F82"/>
                </a:solidFill>
                <a:cs typeface="Arial" panose="020B0604020202020204" pitchFamily="34" charset="0"/>
              </a:rPr>
              <a:t>, </a:t>
            </a:r>
            <a:r>
              <a:rPr lang="ru-RU" sz="2400" dirty="0">
                <a:solidFill>
                  <a:srgbClr val="003F82"/>
                </a:solidFill>
                <a:cs typeface="Arial" panose="020B0604020202020204" pitchFamily="34" charset="0"/>
              </a:rPr>
              <a:t>которое отображает местоположение и информацию из базы данных о спортивных площадках на </a:t>
            </a:r>
            <a:r>
              <a:rPr lang="en-US" sz="2400" dirty="0">
                <a:solidFill>
                  <a:srgbClr val="003F82"/>
                </a:solidFill>
                <a:cs typeface="Arial" panose="020B0604020202020204" pitchFamily="34" charset="0"/>
              </a:rPr>
              <a:t>Google </a:t>
            </a:r>
            <a:r>
              <a:rPr lang="ru-RU" sz="2400" dirty="0">
                <a:solidFill>
                  <a:srgbClr val="003F82"/>
                </a:solidFill>
                <a:cs typeface="Arial" panose="020B0604020202020204" pitchFamily="34" charset="0"/>
              </a:rPr>
              <a:t>карте и позволяет пользователю зарегистрироваться на них с указанием времени и имени пользователя</a:t>
            </a:r>
            <a:br>
              <a:rPr lang="ru-RU" sz="2000" i="1" dirty="0">
                <a:solidFill>
                  <a:srgbClr val="003F82"/>
                </a:solidFill>
                <a:cs typeface="Arial" panose="020B0604020202020204" pitchFamily="34" charset="0"/>
              </a:rPr>
            </a:br>
            <a:endParaRPr lang="ru-RU" sz="2000" i="1" dirty="0">
              <a:solidFill>
                <a:srgbClr val="003F82"/>
              </a:solidFill>
              <a:cs typeface="Arial" panose="020B0604020202020204" pitchFamily="34" charset="0"/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2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5706634E-CAB6-4F11-A7CB-C9680798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6894979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000" b="1" dirty="0">
                <a:solidFill>
                  <a:schemeClr val="bg1"/>
                </a:solidFill>
              </a:rPr>
              <a:t>ОСНОВНЫЕ ПОНЯТИЯ, ОПРЕДЕЛЕНИЯ, ТЕРМИНЫ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3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222250" y="1479550"/>
            <a:ext cx="8575521" cy="31085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b="1" dirty="0">
                <a:cs typeface="Arial" panose="020B0604020202020204" pitchFamily="34" charset="0"/>
              </a:rPr>
              <a:t>Google API</a:t>
            </a:r>
            <a:r>
              <a:rPr lang="ru-RU" dirty="0">
                <a:cs typeface="Arial" panose="020B0604020202020204" pitchFamily="34" charset="0"/>
              </a:rPr>
              <a:t> – набор классов и функций, предоставляемых сервисами </a:t>
            </a:r>
            <a:r>
              <a:rPr lang="en-US" dirty="0">
                <a:cs typeface="Arial" panose="020B0604020202020204" pitchFamily="34" charset="0"/>
              </a:rPr>
              <a:t>Google </a:t>
            </a:r>
            <a:r>
              <a:rPr lang="ru-RU" dirty="0">
                <a:cs typeface="Arial" panose="020B0604020202020204" pitchFamily="34" charset="0"/>
              </a:rPr>
              <a:t>для использования в сторонних программных продуктах.</a:t>
            </a:r>
          </a:p>
          <a:p>
            <a:r>
              <a:rPr lang="ru-RU" b="1" dirty="0">
                <a:cs typeface="Arial" panose="020B0604020202020204" pitchFamily="34" charset="0"/>
              </a:rPr>
              <a:t>Геолокация</a:t>
            </a:r>
            <a:r>
              <a:rPr lang="ru-RU" dirty="0">
                <a:cs typeface="Arial" panose="020B0604020202020204" pitchFamily="34" charset="0"/>
              </a:rPr>
              <a:t> – данные о местоположении технического устройства пользователя в режиме реального времени. </a:t>
            </a:r>
            <a:endParaRPr lang="en-US" dirty="0">
              <a:cs typeface="Arial" panose="020B0604020202020204" pitchFamily="34" charset="0"/>
            </a:endParaRPr>
          </a:p>
          <a:p>
            <a:r>
              <a:rPr lang="ru-RU" b="1" dirty="0">
                <a:cs typeface="Arial" panose="020B0604020202020204" pitchFamily="34" charset="0"/>
              </a:rPr>
              <a:t>Меню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ru-RU" dirty="0">
                <a:cs typeface="Arial" panose="020B0604020202020204" pitchFamily="34" charset="0"/>
              </a:rPr>
              <a:t>– набор из трех вкладок, каждая из которых содержит свою страницу с содержимым.</a:t>
            </a:r>
          </a:p>
          <a:p>
            <a:r>
              <a:rPr lang="ru-RU" b="1" dirty="0">
                <a:cs typeface="Arial" panose="020B0604020202020204" pitchFamily="34" charset="0"/>
              </a:rPr>
              <a:t>Маркер </a:t>
            </a:r>
            <a:r>
              <a:rPr lang="ru-RU" dirty="0">
                <a:cs typeface="Arial" panose="020B0604020202020204" pitchFamily="34" charset="0"/>
              </a:rPr>
              <a:t>– пользовательская иконка, иллюстрирующая положение объекта на карте . </a:t>
            </a:r>
            <a:endParaRPr lang="en-US" dirty="0">
              <a:cs typeface="Arial" panose="020B0604020202020204" pitchFamily="34" charset="0"/>
            </a:endParaRPr>
          </a:p>
          <a:p>
            <a:r>
              <a:rPr lang="ru-RU" b="1" dirty="0">
                <a:cs typeface="Arial" panose="020B0604020202020204" pitchFamily="34" charset="0"/>
              </a:rPr>
              <a:t>Информационное окно</a:t>
            </a:r>
            <a:r>
              <a:rPr lang="ru-RU" dirty="0">
                <a:cs typeface="Arial" panose="020B0604020202020204" pitchFamily="34" charset="0"/>
              </a:rPr>
              <a:t> – один из способов отображения информации об объекте, привязанном к конкретной метке.</a:t>
            </a:r>
          </a:p>
          <a:p>
            <a:r>
              <a:rPr lang="ru-RU" sz="1600" dirty="0">
                <a:latin typeface="Segoe UI" panose="020B0502040204020203" pitchFamily="34" charset="0"/>
              </a:rPr>
              <a:t> </a:t>
            </a: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AB105AD-CAF2-46BE-A0F4-535EAE74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6894979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ЦЕЛЬ И ЗАДАЧИ РАБОТЫ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6" name="Rectangle 12"/>
          <p:cNvSpPr>
            <a:spLocks noChangeArrowheads="1"/>
          </p:cNvSpPr>
          <p:nvPr/>
        </p:nvSpPr>
        <p:spPr bwMode="auto">
          <a:xfrm>
            <a:off x="222250" y="1479550"/>
            <a:ext cx="8738870" cy="45243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3F82"/>
                </a:solidFill>
              </a:rPr>
              <a:t>Цель работы</a:t>
            </a:r>
            <a:br>
              <a:rPr lang="ru-RU" dirty="0">
                <a:solidFill>
                  <a:srgbClr val="003F82"/>
                </a:solidFill>
              </a:rPr>
            </a:br>
            <a:r>
              <a:rPr lang="ru-RU" dirty="0">
                <a:solidFill>
                  <a:srgbClr val="003F82"/>
                </a:solidFill>
              </a:rPr>
              <a:t>Разработать андроид приложение на платформе </a:t>
            </a:r>
            <a:r>
              <a:rPr lang="en-US" dirty="0" err="1">
                <a:solidFill>
                  <a:srgbClr val="003F82"/>
                </a:solidFill>
              </a:rPr>
              <a:t>Xamarin.Android</a:t>
            </a:r>
            <a:r>
              <a:rPr lang="ru-RU" dirty="0">
                <a:solidFill>
                  <a:srgbClr val="003F82"/>
                </a:solidFill>
              </a:rPr>
              <a:t>, позволяющее пользователю находить спортивные площадки на </a:t>
            </a:r>
            <a:r>
              <a:rPr lang="en-US" dirty="0">
                <a:solidFill>
                  <a:srgbClr val="003F82"/>
                </a:solidFill>
              </a:rPr>
              <a:t>Google </a:t>
            </a:r>
            <a:r>
              <a:rPr lang="ru-RU" dirty="0">
                <a:solidFill>
                  <a:srgbClr val="003F82"/>
                </a:solidFill>
              </a:rPr>
              <a:t>карте и регистрироваться для совместных занятий на них</a:t>
            </a:r>
          </a:p>
          <a:p>
            <a:r>
              <a:rPr lang="ru-RU" b="1" dirty="0">
                <a:solidFill>
                  <a:srgbClr val="003F82"/>
                </a:solidFill>
              </a:rPr>
              <a:t>Задачи работы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Внедрение </a:t>
            </a:r>
            <a:r>
              <a:rPr lang="en-US" dirty="0">
                <a:solidFill>
                  <a:srgbClr val="003F82"/>
                </a:solidFill>
              </a:rPr>
              <a:t>Google </a:t>
            </a:r>
            <a:r>
              <a:rPr lang="ru-RU" dirty="0">
                <a:solidFill>
                  <a:srgbClr val="003F82"/>
                </a:solidFill>
              </a:rPr>
              <a:t>карты в приложение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Обработка информации с базы данных спортплощадок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Создание объектов спортивных площадок, проинициализированных обработанной информацией с базы данных 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Расстановка меток по адресам объектов на </a:t>
            </a:r>
            <a:r>
              <a:rPr lang="en-US" dirty="0">
                <a:solidFill>
                  <a:srgbClr val="003F82"/>
                </a:solidFill>
              </a:rPr>
              <a:t>Google </a:t>
            </a:r>
            <a:r>
              <a:rPr lang="ru-RU" dirty="0">
                <a:solidFill>
                  <a:srgbClr val="003F82"/>
                </a:solidFill>
              </a:rPr>
              <a:t>карте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Привязка информационных окон к меткам с адресом, телефоном, сайтом и площадью площадки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Дать возможность пользователю зарегистрироваться на спортивную площадку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Осуществить возможность поиска спортплощадки по ее адресу</a:t>
            </a:r>
          </a:p>
          <a:p>
            <a:pPr marL="228600" indent="-228600">
              <a:buFont typeface="+mj-lt"/>
              <a:buAutoNum type="arabicPeriod"/>
            </a:pPr>
            <a:endParaRPr lang="ru-RU" dirty="0">
              <a:solidFill>
                <a:srgbClr val="003F82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4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D07615-1070-46FE-B852-5B2153D08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6894979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АНАЛИЗ СУЩЕСТВУЮЩИХ РЕШЕНИЙ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5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1EA86CC-484E-40EE-B956-2AB55FC2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A1CA7A-A171-4547-9D12-D9EBDBC67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63" y="3548605"/>
            <a:ext cx="2880000" cy="28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51F9BB-4114-48AA-8781-C833270B96CD}"/>
              </a:ext>
            </a:extLst>
          </p:cNvPr>
          <p:cNvSpPr txBox="1"/>
          <p:nvPr/>
        </p:nvSpPr>
        <p:spPr>
          <a:xfrm>
            <a:off x="255588" y="1486498"/>
            <a:ext cx="3576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Аналоги программы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28937-F3E7-41B5-BD73-DA1060ECC863}"/>
              </a:ext>
            </a:extLst>
          </p:cNvPr>
          <p:cNvSpPr txBox="1"/>
          <p:nvPr/>
        </p:nvSpPr>
        <p:spPr>
          <a:xfrm>
            <a:off x="370114" y="1948163"/>
            <a:ext cx="8686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 </a:t>
            </a:r>
            <a:r>
              <a:rPr lang="en-US" sz="2400" dirty="0" err="1"/>
              <a:t>StayFit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https://play.google.com/store/apps/details?id=com.nau.streetworkoutrankmanager&amp;hl=ru</a:t>
            </a:r>
            <a:r>
              <a:rPr lang="en-US" sz="2400" dirty="0"/>
              <a:t> </a:t>
            </a:r>
            <a:r>
              <a:rPr lang="ru-RU" sz="2400" dirty="0"/>
              <a:t>—</a:t>
            </a:r>
            <a:r>
              <a:rPr lang="en-US" sz="2400" dirty="0"/>
              <a:t> </a:t>
            </a:r>
            <a:r>
              <a:rPr lang="ru-RU" sz="2400" dirty="0"/>
              <a:t>нет возможности поиска спортивных площадок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6894979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АНАЛИЗ СУЩЕСТВУЮЩИХ РЕШЕНИЙ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6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1EA86CC-484E-40EE-B956-2AB55FC26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B8A51D-166D-4084-A3DF-DAFC45D0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963" y="3728607"/>
            <a:ext cx="2520000" cy="25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48CBE9-5AA3-4DD9-AF09-5B5BE7EE7D75}"/>
              </a:ext>
            </a:extLst>
          </p:cNvPr>
          <p:cNvSpPr txBox="1"/>
          <p:nvPr/>
        </p:nvSpPr>
        <p:spPr>
          <a:xfrm>
            <a:off x="255588" y="1486498"/>
            <a:ext cx="3576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Аналоги программы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777BF-7AED-438D-BC8A-097B45664FB5}"/>
              </a:ext>
            </a:extLst>
          </p:cNvPr>
          <p:cNvSpPr txBox="1"/>
          <p:nvPr/>
        </p:nvSpPr>
        <p:spPr>
          <a:xfrm>
            <a:off x="370114" y="1948163"/>
            <a:ext cx="868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</a:t>
            </a:r>
            <a:r>
              <a:rPr lang="en-US" sz="2400" dirty="0"/>
              <a:t>.  </a:t>
            </a:r>
            <a:r>
              <a:rPr lang="en-US" sz="2400" dirty="0" err="1"/>
              <a:t>CitySport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https://play.google.com/store/apps/details?id=com.yclients.mobile.s301306</a:t>
            </a:r>
            <a:r>
              <a:rPr lang="en-US" sz="2400" dirty="0"/>
              <a:t> </a:t>
            </a:r>
            <a:r>
              <a:rPr lang="ru-RU" sz="2400" dirty="0"/>
              <a:t>—</a:t>
            </a:r>
            <a:r>
              <a:rPr lang="en-US" sz="2400" dirty="0"/>
              <a:t> </a:t>
            </a:r>
            <a:r>
              <a:rPr lang="ru-RU" sz="2400" dirty="0"/>
              <a:t>ограниченная сеть спортивных площадок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140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6894979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Функциональные требования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6" name="Rectangle 12"/>
          <p:cNvSpPr>
            <a:spLocks noChangeArrowheads="1"/>
          </p:cNvSpPr>
          <p:nvPr/>
        </p:nvSpPr>
        <p:spPr bwMode="auto">
          <a:xfrm>
            <a:off x="222250" y="1479550"/>
            <a:ext cx="8738870" cy="47397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3F82"/>
                </a:solidFill>
              </a:rPr>
              <a:t>Список требований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Запрашивать разрешение у пользователя к доступу к его геолокации, в случае разрешения показывать его текущее местоположение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Показывать всю необходимую информацию о спортплощадке при её выборе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Осуществлять поиск спортплощадок на карте по заданному адресу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Показывать всю необходимую информацию о спортплощадке при её выборе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Иметь возможность зарегистрироваться на выбранную пользователем спортплощадку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Иметь возможность выбора времени регистрации пользователем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Показывать загруженность выбранной спортплощадки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Давать возможность пользователю выбирать дневную или ночную тему карты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Давать возможность построить через приложение </a:t>
            </a:r>
            <a:r>
              <a:rPr lang="en-US" dirty="0">
                <a:solidFill>
                  <a:srgbClr val="003F82"/>
                </a:solidFill>
              </a:rPr>
              <a:t>Google</a:t>
            </a:r>
            <a:r>
              <a:rPr lang="ru-RU" dirty="0">
                <a:solidFill>
                  <a:srgbClr val="003F82"/>
                </a:solidFill>
              </a:rPr>
              <a:t> маршрут до выбранной метки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rgbClr val="003F82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7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CD901F5B-FC48-4456-901B-D2C676D4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7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</a:p>
          <a:p>
            <a:pPr>
              <a:spcBef>
                <a:spcPct val="20000"/>
              </a:spcBef>
            </a:pP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ВЗАИМОДЕЙСТВИЕ С </a:t>
            </a:r>
            <a:r>
              <a:rPr lang="en-US" sz="2400" b="1" dirty="0">
                <a:solidFill>
                  <a:schemeClr val="bg1"/>
                </a:solidFill>
              </a:rPr>
              <a:t>GOOGLE API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8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A98296E7-5E87-454A-B618-38355D1E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35A939F-F59A-4507-A6C5-8D2724480341}"/>
              </a:ext>
            </a:extLst>
          </p:cNvPr>
          <p:cNvSpPr/>
          <p:nvPr/>
        </p:nvSpPr>
        <p:spPr>
          <a:xfrm>
            <a:off x="3187128" y="1362984"/>
            <a:ext cx="2520000" cy="646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2DE31-A972-49D1-B03C-150F0A79C6BF}"/>
              </a:ext>
            </a:extLst>
          </p:cNvPr>
          <p:cNvSpPr txBox="1"/>
          <p:nvPr/>
        </p:nvSpPr>
        <p:spPr>
          <a:xfrm>
            <a:off x="3338243" y="1375606"/>
            <a:ext cx="2217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Инициализация приложения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EE52342-72EA-4279-8071-59E76C9EB2AC}"/>
              </a:ext>
            </a:extLst>
          </p:cNvPr>
          <p:cNvCxnSpPr>
            <a:cxnSpLocks/>
          </p:cNvCxnSpPr>
          <p:nvPr/>
        </p:nvCxnSpPr>
        <p:spPr>
          <a:xfrm>
            <a:off x="4447128" y="2011051"/>
            <a:ext cx="2" cy="4054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D70971D-261C-4F94-9EE9-45E5787B0F36}"/>
              </a:ext>
            </a:extLst>
          </p:cNvPr>
          <p:cNvSpPr/>
          <p:nvPr/>
        </p:nvSpPr>
        <p:spPr>
          <a:xfrm>
            <a:off x="6063971" y="3464574"/>
            <a:ext cx="2133597" cy="79938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Отображение пустой сетки</a:t>
            </a:r>
          </a:p>
        </p:txBody>
      </p:sp>
      <p:sp>
        <p:nvSpPr>
          <p:cNvPr id="6" name="Блок-схема: решение 5">
            <a:extLst>
              <a:ext uri="{FF2B5EF4-FFF2-40B4-BE49-F238E27FC236}">
                <a16:creationId xmlns:a16="http://schemas.microsoft.com/office/drawing/2014/main" id="{8AFEC9F5-0FD5-452F-9273-AB6DB8103EDC}"/>
              </a:ext>
            </a:extLst>
          </p:cNvPr>
          <p:cNvSpPr/>
          <p:nvPr/>
        </p:nvSpPr>
        <p:spPr>
          <a:xfrm>
            <a:off x="3187128" y="2405569"/>
            <a:ext cx="2520000" cy="1290172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D6908-E90E-4FD4-B78B-CFCCDFBD119B}"/>
              </a:ext>
            </a:extLst>
          </p:cNvPr>
          <p:cNvSpPr txBox="1"/>
          <p:nvPr/>
        </p:nvSpPr>
        <p:spPr>
          <a:xfrm>
            <a:off x="3674244" y="2552697"/>
            <a:ext cx="1567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Наличие интернет соединения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470F536-F64D-410C-9F86-C88D65C2C5A6}"/>
              </a:ext>
            </a:extLst>
          </p:cNvPr>
          <p:cNvCxnSpPr>
            <a:cxnSpLocks/>
          </p:cNvCxnSpPr>
          <p:nvPr/>
        </p:nvCxnSpPr>
        <p:spPr>
          <a:xfrm flipH="1">
            <a:off x="2267541" y="3060394"/>
            <a:ext cx="941951" cy="8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826A3547-C8D6-42D4-ABBB-91CF28D7EFA1}"/>
              </a:ext>
            </a:extLst>
          </p:cNvPr>
          <p:cNvCxnSpPr>
            <a:cxnSpLocks/>
          </p:cNvCxnSpPr>
          <p:nvPr/>
        </p:nvCxnSpPr>
        <p:spPr>
          <a:xfrm flipH="1" flipV="1">
            <a:off x="5707128" y="3055924"/>
            <a:ext cx="1423642" cy="2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42AD4272-00AB-4D2B-9EEA-B89BE354A921}"/>
              </a:ext>
            </a:extLst>
          </p:cNvPr>
          <p:cNvCxnSpPr>
            <a:cxnSpLocks/>
          </p:cNvCxnSpPr>
          <p:nvPr/>
        </p:nvCxnSpPr>
        <p:spPr>
          <a:xfrm>
            <a:off x="7130770" y="3051484"/>
            <a:ext cx="0" cy="424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00FACA6-6D89-4CFD-8913-5FF3CE2C9914}"/>
              </a:ext>
            </a:extLst>
          </p:cNvPr>
          <p:cNvSpPr txBox="1"/>
          <p:nvPr/>
        </p:nvSpPr>
        <p:spPr>
          <a:xfrm>
            <a:off x="2484458" y="269106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Да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0D7A0F-83A3-4F50-A806-A6012FCB947F}"/>
              </a:ext>
            </a:extLst>
          </p:cNvPr>
          <p:cNvSpPr txBox="1"/>
          <p:nvPr/>
        </p:nvSpPr>
        <p:spPr>
          <a:xfrm>
            <a:off x="6203606" y="2681323"/>
            <a:ext cx="577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Нет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57E170F-1DAD-4DD9-B3B1-A96E871CDC8F}"/>
              </a:ext>
            </a:extLst>
          </p:cNvPr>
          <p:cNvSpPr/>
          <p:nvPr/>
        </p:nvSpPr>
        <p:spPr>
          <a:xfrm>
            <a:off x="1211628" y="3484436"/>
            <a:ext cx="2133597" cy="79213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Отправка запроса на использование </a:t>
            </a:r>
            <a:r>
              <a:rPr lang="en-US" dirty="0"/>
              <a:t>API </a:t>
            </a:r>
            <a:r>
              <a:rPr lang="ru-RU" dirty="0"/>
              <a:t>карт </a:t>
            </a:r>
            <a:r>
              <a:rPr lang="en-US" dirty="0"/>
              <a:t>Google</a:t>
            </a:r>
            <a:endParaRPr lang="ru-RU" dirty="0"/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741C1A5-907F-4C9B-A495-3699ED5AF64C}"/>
              </a:ext>
            </a:extLst>
          </p:cNvPr>
          <p:cNvCxnSpPr>
            <a:cxnSpLocks/>
          </p:cNvCxnSpPr>
          <p:nvPr/>
        </p:nvCxnSpPr>
        <p:spPr>
          <a:xfrm>
            <a:off x="2278427" y="3060394"/>
            <a:ext cx="0" cy="424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1B6E704-DC3E-43AC-B391-CCAD9E0D0903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2278427" y="4276571"/>
            <a:ext cx="0" cy="295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Блок-схема: решение 35">
            <a:extLst>
              <a:ext uri="{FF2B5EF4-FFF2-40B4-BE49-F238E27FC236}">
                <a16:creationId xmlns:a16="http://schemas.microsoft.com/office/drawing/2014/main" id="{8177AEEF-601C-4AB0-A005-386B8C09095B}"/>
              </a:ext>
            </a:extLst>
          </p:cNvPr>
          <p:cNvSpPr/>
          <p:nvPr/>
        </p:nvSpPr>
        <p:spPr>
          <a:xfrm>
            <a:off x="968828" y="4559266"/>
            <a:ext cx="2601679" cy="836131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Корректен запрос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04B53A3-52BA-4616-9891-CAB9ABAFD9AC}"/>
              </a:ext>
            </a:extLst>
          </p:cNvPr>
          <p:cNvCxnSpPr>
            <a:cxnSpLocks/>
          </p:cNvCxnSpPr>
          <p:nvPr/>
        </p:nvCxnSpPr>
        <p:spPr>
          <a:xfrm flipH="1" flipV="1">
            <a:off x="3570507" y="4987303"/>
            <a:ext cx="1423642" cy="2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3" name="Прямая соединительная линия 14342">
            <a:extLst>
              <a:ext uri="{FF2B5EF4-FFF2-40B4-BE49-F238E27FC236}">
                <a16:creationId xmlns:a16="http://schemas.microsoft.com/office/drawing/2014/main" id="{8831A088-5230-4398-B7FC-70B21829EAF4}"/>
              </a:ext>
            </a:extLst>
          </p:cNvPr>
          <p:cNvCxnSpPr>
            <a:cxnSpLocks/>
          </p:cNvCxnSpPr>
          <p:nvPr/>
        </p:nvCxnSpPr>
        <p:spPr>
          <a:xfrm flipH="1" flipV="1">
            <a:off x="511629" y="4988217"/>
            <a:ext cx="47897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45" name="Прямая со стрелкой 14344">
            <a:extLst>
              <a:ext uri="{FF2B5EF4-FFF2-40B4-BE49-F238E27FC236}">
                <a16:creationId xmlns:a16="http://schemas.microsoft.com/office/drawing/2014/main" id="{10B78379-5E84-4069-8630-236233F7671B}"/>
              </a:ext>
            </a:extLst>
          </p:cNvPr>
          <p:cNvCxnSpPr/>
          <p:nvPr/>
        </p:nvCxnSpPr>
        <p:spPr>
          <a:xfrm>
            <a:off x="522515" y="4976417"/>
            <a:ext cx="0" cy="499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0E2D24DD-C219-4C7E-9AA1-F4DA7628AA35}"/>
              </a:ext>
            </a:extLst>
          </p:cNvPr>
          <p:cNvSpPr/>
          <p:nvPr/>
        </p:nvSpPr>
        <p:spPr>
          <a:xfrm>
            <a:off x="4195240" y="5465542"/>
            <a:ext cx="1580690" cy="627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Отображение пустой сетки</a:t>
            </a:r>
          </a:p>
        </p:txBody>
      </p: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F3C4351F-8118-4B11-B1AE-70A88A3C3B99}"/>
              </a:ext>
            </a:extLst>
          </p:cNvPr>
          <p:cNvCxnSpPr/>
          <p:nvPr/>
        </p:nvCxnSpPr>
        <p:spPr>
          <a:xfrm>
            <a:off x="4983263" y="4979243"/>
            <a:ext cx="0" cy="499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FF4CE92A-A67F-4A23-8D9F-4A917F3F69E1}"/>
              </a:ext>
            </a:extLst>
          </p:cNvPr>
          <p:cNvSpPr/>
          <p:nvPr/>
        </p:nvSpPr>
        <p:spPr>
          <a:xfrm>
            <a:off x="51708" y="5465542"/>
            <a:ext cx="1580690" cy="627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Отображение карты </a:t>
            </a:r>
            <a:r>
              <a:rPr lang="en-US" dirty="0"/>
              <a:t>Google</a:t>
            </a:r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82F067-2BFF-4AC8-AFA8-0E1BB9BB2EED}"/>
              </a:ext>
            </a:extLst>
          </p:cNvPr>
          <p:cNvSpPr txBox="1"/>
          <p:nvPr/>
        </p:nvSpPr>
        <p:spPr>
          <a:xfrm>
            <a:off x="3937588" y="4607085"/>
            <a:ext cx="577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Нет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8AEBFD-2048-4B40-BDD2-62BABE060981}"/>
              </a:ext>
            </a:extLst>
          </p:cNvPr>
          <p:cNvSpPr txBox="1"/>
          <p:nvPr/>
        </p:nvSpPr>
        <p:spPr>
          <a:xfrm>
            <a:off x="522515" y="4617971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ОПИСАНИЕ ВЫБРАННЫХ АЛГОРИТМОВ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9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CF769D69-CC45-4FDE-A5CE-F5FB9D29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33A88C-90C3-4874-BC2A-753D5E08091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06492" y="2301564"/>
            <a:ext cx="4430403" cy="3791117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B492DA6-9EBA-49E4-90CE-1D0B0640BBF1}"/>
              </a:ext>
            </a:extLst>
          </p:cNvPr>
          <p:cNvCxnSpPr>
            <a:cxnSpLocks/>
          </p:cNvCxnSpPr>
          <p:nvPr/>
        </p:nvCxnSpPr>
        <p:spPr>
          <a:xfrm flipH="1">
            <a:off x="1450521" y="3189514"/>
            <a:ext cx="1412422" cy="1567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B51FA29-E59D-4BAF-9D04-2B7972369E24}"/>
              </a:ext>
            </a:extLst>
          </p:cNvPr>
          <p:cNvCxnSpPr>
            <a:cxnSpLocks/>
          </p:cNvCxnSpPr>
          <p:nvPr/>
        </p:nvCxnSpPr>
        <p:spPr>
          <a:xfrm>
            <a:off x="6324603" y="3184682"/>
            <a:ext cx="991415" cy="5263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080A60C-8944-467E-A40A-E447C43EAD11}"/>
              </a:ext>
            </a:extLst>
          </p:cNvPr>
          <p:cNvCxnSpPr>
            <a:cxnSpLocks/>
          </p:cNvCxnSpPr>
          <p:nvPr/>
        </p:nvCxnSpPr>
        <p:spPr>
          <a:xfrm>
            <a:off x="4808553" y="5414977"/>
            <a:ext cx="1344066" cy="219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8EED36-6B8C-457D-B511-A011436AF2B9}"/>
              </a:ext>
            </a:extLst>
          </p:cNvPr>
          <p:cNvSpPr txBox="1"/>
          <p:nvPr/>
        </p:nvSpPr>
        <p:spPr>
          <a:xfrm>
            <a:off x="7218102" y="3685064"/>
            <a:ext cx="863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Поиск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D33C49-6857-4B2C-BDFE-2478A7031DD7}"/>
              </a:ext>
            </a:extLst>
          </p:cNvPr>
          <p:cNvSpPr txBox="1"/>
          <p:nvPr/>
        </p:nvSpPr>
        <p:spPr>
          <a:xfrm>
            <a:off x="930128" y="4709330"/>
            <a:ext cx="99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Карта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9AB462-9F7C-48E4-A313-7EACE3349543}"/>
              </a:ext>
            </a:extLst>
          </p:cNvPr>
          <p:cNvSpPr txBox="1"/>
          <p:nvPr/>
        </p:nvSpPr>
        <p:spPr>
          <a:xfrm>
            <a:off x="6132485" y="5471824"/>
            <a:ext cx="1662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3F82"/>
                </a:solidFill>
              </a:rPr>
              <a:t>Настройки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F7D53-DB63-4E25-944D-A74C2F096CFF}"/>
              </a:ext>
            </a:extLst>
          </p:cNvPr>
          <p:cNvSpPr txBox="1"/>
          <p:nvPr/>
        </p:nvSpPr>
        <p:spPr>
          <a:xfrm>
            <a:off x="255588" y="1480457"/>
            <a:ext cx="8861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3F82"/>
                </a:solidFill>
              </a:rPr>
              <a:t>Граф переходов между вкладками андроид приложения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ОПИСАНИЕ ВЫБРАННЫХ АЛГОРИТМОВ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10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09B7F71C-E8D5-488C-B71F-0553729B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3A5B8-4821-4371-9CA2-BF514D8EAFAE}"/>
              </a:ext>
            </a:extLst>
          </p:cNvPr>
          <p:cNvSpPr txBox="1"/>
          <p:nvPr/>
        </p:nvSpPr>
        <p:spPr>
          <a:xfrm>
            <a:off x="255588" y="1480457"/>
            <a:ext cx="8861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3F82"/>
                </a:solidFill>
              </a:rPr>
              <a:t>Описание алгоритма получения информации об объектах из базы данных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45CBF-A38E-4D61-8E2B-A4D7282E16E9}"/>
              </a:ext>
            </a:extLst>
          </p:cNvPr>
          <p:cNvSpPr txBox="1"/>
          <p:nvPr/>
        </p:nvSpPr>
        <p:spPr>
          <a:xfrm>
            <a:off x="255588" y="2311454"/>
            <a:ext cx="85182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Пока такие строки существуют берется строка со всей информацией об одном объекте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Разбивается на подстроки по </a:t>
            </a:r>
            <a:r>
              <a:rPr lang="en-US" dirty="0"/>
              <a:t>“;” </a:t>
            </a:r>
            <a:r>
              <a:rPr lang="ru-RU" dirty="0"/>
              <a:t>с помощью функции </a:t>
            </a:r>
            <a:r>
              <a:rPr lang="en-US" dirty="0"/>
              <a:t>Split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Из последней подстроки удаляем символы до первого вхождения цифры с помощью функции </a:t>
            </a:r>
            <a:r>
              <a:rPr lang="en-US" dirty="0"/>
              <a:t>Remove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 полученной строке удаляем ненужные символы </a:t>
            </a:r>
            <a:r>
              <a:rPr lang="en-US" dirty="0"/>
              <a:t>“ ” “]” “}” </a:t>
            </a:r>
            <a:r>
              <a:rPr lang="ru-RU" dirty="0"/>
              <a:t>с помощью функции </a:t>
            </a:r>
            <a:r>
              <a:rPr lang="en-US" dirty="0"/>
              <a:t>Trim </a:t>
            </a:r>
            <a:r>
              <a:rPr lang="ru-RU" dirty="0"/>
              <a:t>и заменяем </a:t>
            </a:r>
            <a:r>
              <a:rPr lang="en-US" dirty="0"/>
              <a:t>“.” </a:t>
            </a:r>
            <a:r>
              <a:rPr lang="ru-RU" dirty="0"/>
              <a:t>на </a:t>
            </a:r>
            <a:r>
              <a:rPr lang="en-US" dirty="0"/>
              <a:t>“,”</a:t>
            </a:r>
            <a:r>
              <a:rPr lang="ru-RU" dirty="0"/>
              <a:t> с помощью </a:t>
            </a:r>
            <a:r>
              <a:rPr lang="en-US" dirty="0"/>
              <a:t>Replace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 каждой полученной подстроке с помощью функции </a:t>
            </a:r>
            <a:r>
              <a:rPr lang="en-US" dirty="0"/>
              <a:t>Parse </a:t>
            </a:r>
            <a:r>
              <a:rPr lang="ru-RU" dirty="0" err="1"/>
              <a:t>парсим</a:t>
            </a:r>
            <a:r>
              <a:rPr lang="ru-RU" dirty="0"/>
              <a:t> число в </a:t>
            </a:r>
            <a:r>
              <a:rPr lang="en-US" dirty="0"/>
              <a:t>double</a:t>
            </a:r>
            <a:r>
              <a:rPr lang="ru-RU" dirty="0"/>
              <a:t> с обрезкой до 6 символов после запятой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Первая полученная подстрока – </a:t>
            </a:r>
            <a:r>
              <a:rPr lang="en-US" dirty="0"/>
              <a:t>latitude(</a:t>
            </a:r>
            <a:r>
              <a:rPr lang="ru-RU" dirty="0"/>
              <a:t>широта</a:t>
            </a:r>
            <a:r>
              <a:rPr lang="en-US" dirty="0"/>
              <a:t>)</a:t>
            </a:r>
            <a:r>
              <a:rPr lang="ru-RU" dirty="0"/>
              <a:t>, вторая полученная подстрока – </a:t>
            </a:r>
            <a:r>
              <a:rPr lang="en-US" dirty="0"/>
              <a:t>longitude</a:t>
            </a:r>
            <a:r>
              <a:rPr lang="ru-RU" dirty="0"/>
              <a:t>(долгота)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Все полученные подстроки инициализируют объект спортплощадки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Переход к следующей строке базы данных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ТЕХНОЛОГИИ И ИНСТРУМЕНТЫ РЕАЛИЗАЦИИ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11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2C2068FD-8337-488F-BF0C-BA4020F5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Рисунок 3" descr="Изображение выглядит как знак, остановка, внешний, сидит&#10;&#10;Автоматически созданное описание">
            <a:extLst>
              <a:ext uri="{FF2B5EF4-FFF2-40B4-BE49-F238E27FC236}">
                <a16:creationId xmlns:a16="http://schemas.microsoft.com/office/drawing/2014/main" id="{57D7CF90-CB65-4735-8D66-D433B9A75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068" y="1351449"/>
            <a:ext cx="1519971" cy="1519971"/>
          </a:xfrm>
          <a:prstGeom prst="rect">
            <a:avLst/>
          </a:prstGeom>
        </p:spPr>
      </p:pic>
      <p:pic>
        <p:nvPicPr>
          <p:cNvPr id="6" name="Рисунок 5" descr="Изображение выглядит как знак, остановка, улица, движение&#10;&#10;Автоматически созданное описание">
            <a:extLst>
              <a:ext uri="{FF2B5EF4-FFF2-40B4-BE49-F238E27FC236}">
                <a16:creationId xmlns:a16="http://schemas.microsoft.com/office/drawing/2014/main" id="{A6CD049F-FE84-41EA-8665-BB8078F94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000" y="2923743"/>
            <a:ext cx="1800000" cy="18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4C56DCD-5668-4D0C-ABBB-7DDA28BF6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913" y="1211434"/>
            <a:ext cx="1800000" cy="180000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цветок, птица&#10;&#10;Автоматически созданное описание">
            <a:extLst>
              <a:ext uri="{FF2B5EF4-FFF2-40B4-BE49-F238E27FC236}">
                <a16:creationId xmlns:a16="http://schemas.microsoft.com/office/drawing/2014/main" id="{12FF7388-C8F6-4C55-A222-EC9F5A3BA7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4327" y="4874704"/>
            <a:ext cx="1601441" cy="1377409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знак, часы,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5F8B5862-2F84-4DF1-ADD0-2956EB96FF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8256" y="4898074"/>
            <a:ext cx="1310742" cy="1310742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часы, знак&#10;&#10;Автоматически созданное описание">
            <a:extLst>
              <a:ext uri="{FF2B5EF4-FFF2-40B4-BE49-F238E27FC236}">
                <a16:creationId xmlns:a16="http://schemas.microsoft.com/office/drawing/2014/main" id="{4887A9E7-D6A6-4C0B-8BD3-000FE2A880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913" y="2884148"/>
            <a:ext cx="1800000" cy="180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884A3E-FAC0-491D-A21D-A285B5019657}"/>
              </a:ext>
            </a:extLst>
          </p:cNvPr>
          <p:cNvSpPr txBox="1"/>
          <p:nvPr/>
        </p:nvSpPr>
        <p:spPr>
          <a:xfrm>
            <a:off x="255587" y="1329352"/>
            <a:ext cx="47844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3F82"/>
                </a:solidFill>
              </a:rPr>
              <a:t>Сторонние библиотеки:</a:t>
            </a:r>
            <a:endParaRPr lang="en-US" b="1" dirty="0">
              <a:solidFill>
                <a:srgbClr val="003F8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3F82"/>
                </a:solidFill>
              </a:rPr>
              <a:t>Xamarin.GooglePlayServices.Maps</a:t>
            </a:r>
            <a:endParaRPr lang="ru-RU" dirty="0">
              <a:solidFill>
                <a:srgbClr val="003F82"/>
              </a:solidFill>
            </a:endParaRPr>
          </a:p>
          <a:p>
            <a:r>
              <a:rPr lang="en-US" dirty="0">
                <a:solidFill>
                  <a:srgbClr val="003F82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https://www.nuget.org/packages/Xamarin.GooglePlayServices.Maps/117.0.0-preview03</a:t>
            </a:r>
            <a:r>
              <a:rPr lang="ru-RU" dirty="0">
                <a:solidFill>
                  <a:srgbClr val="003F82"/>
                </a:solidFill>
              </a:rPr>
              <a:t> </a:t>
            </a:r>
            <a:endParaRPr lang="en-US" dirty="0">
              <a:solidFill>
                <a:srgbClr val="003F8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3F82"/>
                </a:solidFill>
              </a:rPr>
              <a:t>Xamarin.Essentials</a:t>
            </a:r>
            <a:endParaRPr lang="ru-RU" dirty="0">
              <a:solidFill>
                <a:srgbClr val="003F82"/>
              </a:solidFill>
            </a:endParaRPr>
          </a:p>
          <a:p>
            <a:r>
              <a:rPr lang="en-US" dirty="0">
                <a:solidFill>
                  <a:srgbClr val="003F82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https://www.nuget.org/packages/Xamarin.Essentials/</a:t>
            </a:r>
            <a:r>
              <a:rPr lang="ru-RU" dirty="0">
                <a:solidFill>
                  <a:srgbClr val="003F82"/>
                </a:solidFill>
              </a:rPr>
              <a:t> </a:t>
            </a:r>
            <a:endParaRPr lang="en-US" dirty="0">
              <a:solidFill>
                <a:srgbClr val="003F8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3F82"/>
                </a:solidFill>
              </a:rPr>
              <a:t>Xamarin.Android.Support.Vector.Drawable</a:t>
            </a:r>
            <a:endParaRPr lang="ru-RU" dirty="0">
              <a:solidFill>
                <a:srgbClr val="003F82"/>
              </a:solidFill>
            </a:endParaRPr>
          </a:p>
          <a:p>
            <a:r>
              <a:rPr lang="en-US" dirty="0">
                <a:solidFill>
                  <a:srgbClr val="003F82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https://www.nuget.org/packages/Xamarin.Android.Support.Vector.Drawable/</a:t>
            </a:r>
            <a:r>
              <a:rPr lang="ru-RU" dirty="0">
                <a:solidFill>
                  <a:srgbClr val="003F82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DF4CC1-8A4F-41BC-BC59-34DFB697308C}"/>
              </a:ext>
            </a:extLst>
          </p:cNvPr>
          <p:cNvSpPr txBox="1"/>
          <p:nvPr/>
        </p:nvSpPr>
        <p:spPr>
          <a:xfrm>
            <a:off x="381000" y="5050414"/>
            <a:ext cx="4659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3F82"/>
                </a:solidFill>
              </a:rPr>
              <a:t>Язык:</a:t>
            </a:r>
            <a:r>
              <a:rPr lang="ru-RU" dirty="0">
                <a:solidFill>
                  <a:srgbClr val="003F82"/>
                </a:solidFill>
              </a:rPr>
              <a:t> </a:t>
            </a:r>
            <a:r>
              <a:rPr lang="en-US" dirty="0">
                <a:solidFill>
                  <a:srgbClr val="003F82"/>
                </a:solidFill>
              </a:rPr>
              <a:t>C# 7.3</a:t>
            </a:r>
          </a:p>
          <a:p>
            <a:r>
              <a:rPr lang="ru-RU" b="1" dirty="0">
                <a:solidFill>
                  <a:srgbClr val="003F82"/>
                </a:solidFill>
              </a:rPr>
              <a:t>Среда программирования: </a:t>
            </a:r>
            <a:r>
              <a:rPr lang="en-US" dirty="0">
                <a:solidFill>
                  <a:srgbClr val="003F82"/>
                </a:solidFill>
              </a:rPr>
              <a:t>Visual Studio 2019</a:t>
            </a:r>
          </a:p>
          <a:p>
            <a:r>
              <a:rPr lang="ru-RU" b="1" dirty="0">
                <a:solidFill>
                  <a:srgbClr val="003F82"/>
                </a:solidFill>
              </a:rPr>
              <a:t>Технологии: </a:t>
            </a:r>
            <a:r>
              <a:rPr lang="en-US" dirty="0" err="1">
                <a:solidFill>
                  <a:srgbClr val="003F82"/>
                </a:solidFill>
              </a:rPr>
              <a:t>Xamarin.Android</a:t>
            </a:r>
            <a:endParaRPr lang="ru-RU" dirty="0">
              <a:solidFill>
                <a:srgbClr val="003F8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9F4E9-D47E-42A3-92A0-1DFC8D28AFF5}"/>
              </a:ext>
            </a:extLst>
          </p:cNvPr>
          <p:cNvSpPr txBox="1"/>
          <p:nvPr/>
        </p:nvSpPr>
        <p:spPr>
          <a:xfrm>
            <a:off x="383607" y="4104839"/>
            <a:ext cx="4528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3F82"/>
                </a:solidFill>
              </a:rPr>
              <a:t>Github</a:t>
            </a:r>
            <a:r>
              <a:rPr lang="en-US" dirty="0">
                <a:solidFill>
                  <a:srgbClr val="003F82"/>
                </a:solidFill>
              </a:rPr>
              <a:t>:</a:t>
            </a:r>
          </a:p>
          <a:p>
            <a:r>
              <a:rPr lang="en-US" dirty="0">
                <a:solidFill>
                  <a:srgbClr val="003F82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https://github.com/nikita199199/Course_Work</a:t>
            </a:r>
            <a:endParaRPr lang="ru-RU" dirty="0">
              <a:solidFill>
                <a:srgbClr val="003F8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ОСНОВНЫЕ РЕЗУЛЬТАТЫ РАБОТЫ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4" name="Rectangle 10"/>
          <p:cNvSpPr>
            <a:spLocks noChangeArrowheads="1"/>
          </p:cNvSpPr>
          <p:nvPr/>
        </p:nvSpPr>
        <p:spPr bwMode="auto">
          <a:xfrm>
            <a:off x="7300913" y="3967163"/>
            <a:ext cx="674687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12</a:t>
            </a:fld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E80463A1-0E50-455F-94EE-52BCAB859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06277-69E6-4C70-AA4B-FC131EAC5122}"/>
              </a:ext>
            </a:extLst>
          </p:cNvPr>
          <p:cNvSpPr txBox="1"/>
          <p:nvPr/>
        </p:nvSpPr>
        <p:spPr>
          <a:xfrm>
            <a:off x="756557" y="2823368"/>
            <a:ext cx="7630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003F82"/>
                </a:solidFill>
              </a:rPr>
              <a:t>Демонстрация работы приложения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Пути дальнейшей работы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451475" y="6356350"/>
            <a:ext cx="470647" cy="365125"/>
          </a:xfrm>
        </p:spPr>
        <p:txBody>
          <a:bodyPr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13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942D89F5-6757-4ABF-AE5E-3CBF69AE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6B4F9-A296-40BE-9858-A39376658204}"/>
              </a:ext>
            </a:extLst>
          </p:cNvPr>
          <p:cNvSpPr txBox="1"/>
          <p:nvPr/>
        </p:nvSpPr>
        <p:spPr>
          <a:xfrm>
            <a:off x="468086" y="1382486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3F82"/>
                </a:solidFill>
              </a:rPr>
              <a:t>Возможные пути развития: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919B6-BF71-48EB-8A4E-527282BECC84}"/>
              </a:ext>
            </a:extLst>
          </p:cNvPr>
          <p:cNvSpPr txBox="1"/>
          <p:nvPr/>
        </p:nvSpPr>
        <p:spPr>
          <a:xfrm>
            <a:off x="587829" y="1977223"/>
            <a:ext cx="71301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dirty="0">
                <a:solidFill>
                  <a:srgbClr val="003F82"/>
                </a:solidFill>
              </a:rPr>
              <a:t>Разработка сервиса для хранения данных пользователей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solidFill>
                  <a:srgbClr val="003F82"/>
                </a:solidFill>
              </a:rPr>
              <a:t>Расширение базы спортивных площадок посредством добавления информации из других баз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solidFill>
                  <a:srgbClr val="003F82"/>
                </a:solidFill>
              </a:rPr>
              <a:t>Создание общего чата с пользователями, зарегистрированными на одну спортивную площадку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solidFill>
                  <a:srgbClr val="003F82"/>
                </a:solidFill>
              </a:rPr>
              <a:t>Улучшение интерфейса приложения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ubtitle 2"/>
          <p:cNvSpPr txBox="1"/>
          <p:nvPr/>
        </p:nvSpPr>
        <p:spPr bwMode="auto">
          <a:xfrm>
            <a:off x="255588" y="6415088"/>
            <a:ext cx="4143375" cy="246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ru-RU" sz="800" dirty="0">
                <a:solidFill>
                  <a:schemeClr val="bg1"/>
                </a:solidFill>
              </a:rPr>
              <a:t>Высшая школа экономики, Москва, 2020</a:t>
            </a:r>
            <a:endParaRPr kumimoji="1" lang="ru-RU" sz="800" dirty="0">
              <a:solidFill>
                <a:schemeClr val="bg1"/>
              </a:solidFill>
            </a:endParaRPr>
          </a:p>
        </p:txBody>
      </p:sp>
      <p:sp>
        <p:nvSpPr>
          <p:cNvPr id="14339" name="Title 1"/>
          <p:cNvSpPr txBox="1"/>
          <p:nvPr/>
        </p:nvSpPr>
        <p:spPr bwMode="auto">
          <a:xfrm>
            <a:off x="1428749" y="428625"/>
            <a:ext cx="7432863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r>
              <a:rPr lang="ru-RU" sz="2400" b="1" dirty="0">
                <a:solidFill>
                  <a:schemeClr val="bg1"/>
                </a:solidFill>
              </a:rPr>
              <a:t>СПИСОК ИСПОЛЬЗОВАННЫХ ИСТОЧНИКОВ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7300913" y="2255838"/>
            <a:ext cx="674687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345" name="Rectangle 11"/>
          <p:cNvSpPr>
            <a:spLocks noChangeArrowheads="1"/>
          </p:cNvSpPr>
          <p:nvPr/>
        </p:nvSpPr>
        <p:spPr bwMode="auto">
          <a:xfrm>
            <a:off x="7300913" y="5591175"/>
            <a:ext cx="674687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ru-RU">
                <a:solidFill>
                  <a:srgbClr val="FFFFFF"/>
                </a:solidFill>
              </a:rPr>
              <a:t>фото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451475" y="6356350"/>
            <a:ext cx="470647" cy="365125"/>
          </a:xfrm>
        </p:spPr>
        <p:txBody>
          <a:bodyPr/>
          <a:lstStyle/>
          <a:p>
            <a:pPr>
              <a:defRPr/>
            </a:pPr>
            <a:fld id="{CB65F501-F5CC-4E12-934E-78BB5E4DA208}" type="slidenum">
              <a:rPr lang="en-US" sz="1800" smtClean="0">
                <a:solidFill>
                  <a:schemeClr val="tx1"/>
                </a:solidFill>
              </a:rPr>
              <a:t>14</a:t>
            </a:fld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9F55311B-71AC-4C0B-AC7D-4DEFA17F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</a:rPr>
              <a:t>Ткаченко Н.С., БПИ 199, курсовая работа, Андроид приложение для организации совместных тренировок на спортивных площадках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16BC1-8C10-4BED-AB60-C4B7B4A7C58D}"/>
              </a:ext>
            </a:extLst>
          </p:cNvPr>
          <p:cNvSpPr txBox="1"/>
          <p:nvPr/>
        </p:nvSpPr>
        <p:spPr>
          <a:xfrm>
            <a:off x="522514" y="1534886"/>
            <a:ext cx="79289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Обучающая статья [Электронный ресурс] //</a:t>
            </a:r>
            <a:r>
              <a:rPr lang="en-US" dirty="0">
                <a:solidFill>
                  <a:srgbClr val="003F82"/>
                </a:solidFill>
              </a:rPr>
              <a:t>URL</a:t>
            </a:r>
            <a:r>
              <a:rPr lang="ru-RU" dirty="0">
                <a:solidFill>
                  <a:srgbClr val="003F82"/>
                </a:solidFill>
              </a:rPr>
              <a:t>: </a:t>
            </a:r>
            <a:r>
              <a:rPr lang="ru-RU" dirty="0">
                <a:solidFill>
                  <a:srgbClr val="003F8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https://docs.microsoft.com/ru-ru/xamarin/android/platform/maps-and-location/maps/maps-api</a:t>
            </a:r>
            <a:r>
              <a:rPr lang="ru-RU" dirty="0">
                <a:solidFill>
                  <a:srgbClr val="003F82"/>
                </a:solidFill>
              </a:rPr>
              <a:t> (Дата обращения: 19.05.2020, режим доступа: свободный)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Документация по взаимодействию с </a:t>
            </a:r>
            <a:r>
              <a:rPr lang="en-US" dirty="0">
                <a:solidFill>
                  <a:srgbClr val="003F82"/>
                </a:solidFill>
              </a:rPr>
              <a:t>Google </a:t>
            </a:r>
            <a:r>
              <a:rPr lang="ru-RU" dirty="0">
                <a:solidFill>
                  <a:srgbClr val="003F82"/>
                </a:solidFill>
              </a:rPr>
              <a:t>картами [Электронный ресурс] //</a:t>
            </a:r>
            <a:r>
              <a:rPr lang="en-US" dirty="0">
                <a:solidFill>
                  <a:srgbClr val="003F82"/>
                </a:solidFill>
              </a:rPr>
              <a:t>URL</a:t>
            </a:r>
            <a:r>
              <a:rPr lang="ru-RU" dirty="0">
                <a:solidFill>
                  <a:srgbClr val="003F82"/>
                </a:solidFill>
              </a:rPr>
              <a:t>: </a:t>
            </a:r>
            <a:r>
              <a:rPr lang="ru-RU" dirty="0">
                <a:solidFill>
                  <a:srgbClr val="003F8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https://developers.google.com/maps/documentation?hl=ru</a:t>
            </a:r>
            <a:r>
              <a:rPr lang="ru-RU" dirty="0">
                <a:solidFill>
                  <a:srgbClr val="003F82"/>
                </a:solidFill>
              </a:rPr>
              <a:t> (Дата обращения: 19.05.2020, режим доступа: свободный)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3F82"/>
                </a:solidFill>
              </a:rPr>
              <a:t>Источник данных, содержащий информацию о спортивных площадках [Электронный ресурс] //</a:t>
            </a:r>
            <a:r>
              <a:rPr lang="en-US" dirty="0">
                <a:solidFill>
                  <a:srgbClr val="003F82"/>
                </a:solidFill>
              </a:rPr>
              <a:t>URL</a:t>
            </a:r>
            <a:r>
              <a:rPr lang="ru-RU" dirty="0">
                <a:solidFill>
                  <a:srgbClr val="003F82"/>
                </a:solidFill>
              </a:rPr>
              <a:t>: </a:t>
            </a:r>
            <a:r>
              <a:rPr lang="ru-RU" dirty="0">
                <a:solidFill>
                  <a:srgbClr val="003F8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https://data.mos.ru/</a:t>
            </a:r>
            <a:r>
              <a:rPr lang="ru-RU" dirty="0">
                <a:solidFill>
                  <a:srgbClr val="003F82"/>
                </a:solidFill>
              </a:rPr>
              <a:t> (Дата обращения: 19.05.2020, режим доступа: свободный)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ubtitle 2"/>
          <p:cNvSpPr>
            <a:spLocks noGrp="1"/>
          </p:cNvSpPr>
          <p:nvPr>
            <p:ph type="subTitle" idx="1"/>
          </p:nvPr>
        </p:nvSpPr>
        <p:spPr>
          <a:xfrm>
            <a:off x="1371600" y="4468813"/>
            <a:ext cx="6400800" cy="908050"/>
          </a:xfrm>
        </p:spPr>
        <p:txBody>
          <a:bodyPr/>
          <a:lstStyle/>
          <a:p>
            <a:r>
              <a:rPr lang="ru-RU" sz="1800" dirty="0">
                <a:solidFill>
                  <a:srgbClr val="003F82"/>
                </a:solidFill>
                <a:ea typeface="MS PGothic" panose="020B0600070205080204" charset="-128"/>
                <a:cs typeface="MS PGothic" panose="020B0600070205080204" charset="-128"/>
              </a:rPr>
              <a:t>Ткаченко Никита Сергеевич,</a:t>
            </a:r>
            <a:endParaRPr lang="en-US" sz="1800" dirty="0">
              <a:solidFill>
                <a:srgbClr val="003F82"/>
              </a:solidFill>
              <a:ea typeface="MS PGothic" panose="020B0600070205080204" charset="-128"/>
              <a:cs typeface="MS PGothic" panose="020B0600070205080204" charset="-128"/>
            </a:endParaRPr>
          </a:p>
          <a:p>
            <a:r>
              <a:rPr lang="en-US" sz="1800" dirty="0">
                <a:solidFill>
                  <a:srgbClr val="003F82"/>
                </a:solidFill>
                <a:ea typeface="MS PGothic" panose="020B0600070205080204" charset="-128"/>
                <a:cs typeface="MS PGothic" panose="020B0600070205080204" charset="-128"/>
              </a:rPr>
              <a:t>nstkachenko@edu.hse.ru</a:t>
            </a:r>
          </a:p>
          <a:p>
            <a:endParaRPr lang="en-US" sz="1800" dirty="0">
              <a:solidFill>
                <a:srgbClr val="003F82"/>
              </a:solidFill>
              <a:ea typeface="MS PGothic" panose="020B0600070205080204" charset="-128"/>
              <a:cs typeface="MS PGothic" panose="020B0600070205080204" charset="-128"/>
            </a:endParaRPr>
          </a:p>
          <a:p>
            <a:r>
              <a:rPr lang="ru-RU" sz="1800" dirty="0">
                <a:solidFill>
                  <a:srgbClr val="003F82"/>
                </a:solidFill>
                <a:ea typeface="MS PGothic" panose="020B0600070205080204" charset="-128"/>
                <a:cs typeface="MS PGothic" panose="020B0600070205080204" charset="-128"/>
              </a:rPr>
              <a:t>Москва - 2020</a:t>
            </a:r>
            <a:endParaRPr lang="en-US" altLang="ru-RU" sz="1800" dirty="0">
              <a:solidFill>
                <a:srgbClr val="003F82"/>
              </a:solidFill>
              <a:ea typeface="MS PGothic" panose="020B0600070205080204" charset="-128"/>
              <a:cs typeface="MS PGothic" panose="020B060007020508020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1274</Words>
  <Application>Microsoft Office PowerPoint</Application>
  <PresentationFormat>Экран (4:3)</PresentationFormat>
  <Paragraphs>177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Office Theme</vt:lpstr>
      <vt:lpstr>3_Специальное оформление</vt:lpstr>
      <vt:lpstr>2_Специальное оформление</vt:lpstr>
      <vt:lpstr>1_Специальное оформление</vt:lpstr>
      <vt:lpstr>Специальное оформление</vt:lpstr>
      <vt:lpstr>Факультет компьютерных наук Образовательная программа  09.03.04 Программная инженерия Курсовая работа Андроид приложение для организации совместных тренировок на  спортивных площадках московских парков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 презентации КР 2019</dc:title>
  <dc:creator>Р.З. Ахметсафина</dc:creator>
  <cp:lastModifiedBy>Ткаченко Никита Сергеевич</cp:lastModifiedBy>
  <cp:revision>113</cp:revision>
  <dcterms:created xsi:type="dcterms:W3CDTF">2010-09-30T06:45:00Z</dcterms:created>
  <dcterms:modified xsi:type="dcterms:W3CDTF">2020-05-27T09:45:53Z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1033-10.2.0.5838</vt:lpwstr>
  </property>
</Properties>
</file>